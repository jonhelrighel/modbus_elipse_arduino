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9753600" cx="13004800"/>
  <p:notesSz cx="6858000" cy="9144000"/>
  <p:embeddedFontLs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7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6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Bom dia!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Este projeto foca </a:t>
            </a:r>
            <a:r>
              <a:rPr lang="en-US" sz="1400">
                <a:solidFill>
                  <a:srgbClr val="1B1C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criação de um sistema supervisório para monitorar e controlar hardware em tempo real, um conceito fundamental na automação industrial.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5a1b38bd2_1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5a1b38bd2_1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5a1b38bd2_0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Font typeface="Arial"/>
              <a:buChar char="-"/>
            </a:pPr>
            <a:r>
              <a:rPr b="1"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por que realizamos este projeto?</a:t>
            </a: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 Em qualquer ambiente automatizado, de um simples laboratório a uma grande planta industrial, é preciso uma forma de monitorar e controlar processos de um ponto central.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100"/>
              <a:buChar char="-"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 chave é uma comunicação eficiente e confiável.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5" name="Google Shape;75;g385a1b38bd2_0_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9c55d3716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Nossos objetivos para este projeto foram bem específicos.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- Primeiro, estabelecer essa comunicação central.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- Segundo, adquirir diferentes tipos de dados do mundo real — especificamente, uma leitura de temperatura analógica e o acionamento de um botão digital.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- Terceiro, enviar comandos de volta ao hardware para controlar uma ventoinha.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E, finalmente, envolver tudo isso em uma interface de supervisão amigável usando um software SCADA profissional chamado Elipse E3.</a:t>
            </a:r>
            <a:endParaRPr sz="1400"/>
          </a:p>
        </p:txBody>
      </p:sp>
      <p:sp>
        <p:nvSpPr>
          <p:cNvPr id="85" name="Google Shape;85;g389c55d3716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9c55d3716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Vamos entrar na tecnologia principal.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MODBUS RTU é um protocolo veterano, mas sua simplicidade é sua força.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Princípio mestre-escravo.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Em nosso projeto, o PC com o Elipse E3 é o Mestre — é o único dispositivo que pode solicitar informações.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Arduino é o Escravo; ele escuta por requisições, executa uma ação como ler um sensor e então envia uma resposta.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Essa estrutura é simples e evita colisões de mensagens na rede.</a:t>
            </a:r>
            <a:endParaRPr sz="1400"/>
          </a:p>
        </p:txBody>
      </p:sp>
      <p:sp>
        <p:nvSpPr>
          <p:cNvPr id="95" name="Google Shape;95;g389c55d3716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9c55d3716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Vamos entrar na tecnologia principal.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MODBUS RTU é um protocolo veterano, mas sua simplicidade é sua força.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Princípio mestre-escravo.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Em nosso projeto, o PC com o Elipse E3 é o Mestre — é o único dispositivo que pode solicitar informações.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Arduino é o Escravo; ele escuta por requisições, executa uma ação como ler um sensor e então envia uma resposta.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Essa estrutura é simples e evita colisões de mensagens na rede.</a:t>
            </a:r>
            <a:endParaRPr sz="1400"/>
          </a:p>
        </p:txBody>
      </p:sp>
      <p:sp>
        <p:nvSpPr>
          <p:cNvPr id="105" name="Google Shape;105;g389c55d3716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9c55d3716_0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Toda mensagem MODBUS segue esta estrutura.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Ela especifica com qual escravo falar, o que fazer, os dados para essa ação e uma verificação de erros crucial.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Os dados em si são organizados em quatro bancos de memória ou tipos de registradores distintos. Endereços padronizados para diferentes tipos de dados.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No nosso projeto, usamos Entradas Discretas para o botão, Registradores de Entrada para os sensores e Registradores de Retenção para controlar a velocidade da ventoinha.</a:t>
            </a:r>
            <a:endParaRPr sz="1400"/>
          </a:p>
        </p:txBody>
      </p:sp>
      <p:sp>
        <p:nvSpPr>
          <p:cNvPr id="115" name="Google Shape;115;g389c55d3716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9c55d3716_0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Do lado do mestre, usamos o Elipse E3.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Este é um software industrial poderoso usado para criar interfaces de supervisão.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Em nosso projeto, usamos sua capacidade de adquirir dados em tempo real e, o mais importante, seu driver MODBUS nativo. Isso nos permitiu configurar a comunicação sem escrever código de baixo nível, simplesmente definindo parâmetros e vinculando elementos da interface aos registradores MODBUS no Arduino.</a:t>
            </a:r>
            <a:endParaRPr sz="1400"/>
          </a:p>
        </p:txBody>
      </p:sp>
      <p:sp>
        <p:nvSpPr>
          <p:cNvPr id="124" name="Google Shape;124;g389c55d3716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9c55d3716_0_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'cérebro' do nosso dispositivo de campo é o Arduino.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É uma plataforma acessível e flexível, perfeita para este tipo de aplicação.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Nós o programamos para atuar como um escravo MODBUS. Seu trabalho é ler continuamente os sensores, controlar a ventoinha com base na nossa lógica e manter seus registradores de dados locais atualizados.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Quando o mestre Elipse E3 envia uma requisição, o Arduino simplesmente fornece o valor do registrador solicitado.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Usamos bibliotecas pré-existentes para gerenciar a comunicação MODBUS, o que simplificou muito o processo de desenvolvimento.</a:t>
            </a:r>
            <a:endParaRPr sz="1400"/>
          </a:p>
        </p:txBody>
      </p:sp>
      <p:sp>
        <p:nvSpPr>
          <p:cNvPr id="134" name="Google Shape;134;g389c55d3716_0_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9c55d3716_0_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Esta é a montagem física do nosso sistema.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Arduino está no centro.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Temos um sensor DHT22 para temperatura e um potenciômetro para entrada do usuário.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Para saída, temos uma ventoinha DC e três LEDs de status. </a:t>
            </a:r>
            <a:endParaRPr sz="14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Um componente crucial aqui é o MOSFET. O Arduino não consegue alimentar a ventoinha de 12V diretamente, então usamos o MOSFET como um interruptor digital, permitindo que um sinal PWM de baixa potência do Arduino controle a ventoinha de alta potência.</a:t>
            </a:r>
            <a:endParaRPr sz="1400"/>
          </a:p>
        </p:txBody>
      </p:sp>
      <p:sp>
        <p:nvSpPr>
          <p:cNvPr id="144" name="Google Shape;144;g389c55d3716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9c55d3716_0_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54" name="Google Shape;154;g389c55d3716_0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c55d3716_0_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Incluímos as bibliotecas necessárias e definimos os parâmetros básicos de comunicação, como o ID do escravo e a taxa de transmissão. O passo mais crítico é definir o mapa de registradores.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Coils (00001–09999):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variáveis booleanas de escrita/leitura, usadas para comandos de saída digital;</a:t>
            </a:r>
            <a:b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Inputs (10001–19999):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variáveis booleanas somente de leitura, utilizadas para entradas digitais;</a:t>
            </a:r>
            <a:b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Registers (30001–39999):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registradores analógicos de somente leitura (ex.: leitura de sensores);</a:t>
            </a:r>
            <a:b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Holding Registers (40001–49999):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registradores analógicos de leitura e escrita, comumente utilizados para enviar valores do mestre para o escravo.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89c55d3716_0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9c55d3716_0_1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loop lógico principal no Arduino é direto.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Primeiro e mais importante, ele verifica se há requisições MODBUS. Esta é a maior prioridade.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Em seguida, lê os valores mais recentes dos sensores.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Adicionamos um passo importante de validação de dados para o sensor de temperatura para descartar leituras defeituosas.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Após ler as entradas, ele executa a lógica de controle para a ventoinha, que detalharemos a seguir.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Finalmente, ele atualiza seu banco de registradores local com os novos valores, pronto para a próxima requisição do mestre.</a:t>
            </a:r>
            <a:endParaRPr sz="1400"/>
          </a:p>
        </p:txBody>
      </p:sp>
      <p:sp>
        <p:nvSpPr>
          <p:cNvPr id="173" name="Google Shape;173;g389c55d3716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9c55d3716_0_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Aqui está a lógica de controle central que implementamos.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Definimos três zonas operacionais com base na temperatura.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Abaixo de 24 graus, tudo está normal e a ventoinha está desligada.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Entre 24 e 28 graus, o sistema entra em estado de alerta. Aqui, a ventoinha liga e sua velocidade pode ser ajustada manualmente com o potenciômetro. Isso simula um operador fazendo um ajuste.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Se a temperatura exceder 28 graus, entramos em um estado crítico onde o controle manual é desativado e a ventoinha é forçada a 100% para garantir o resfriamento máximo.</a:t>
            </a:r>
            <a:endParaRPr sz="1400"/>
          </a:p>
        </p:txBody>
      </p:sp>
      <p:sp>
        <p:nvSpPr>
          <p:cNvPr id="182" name="Google Shape;182;g389c55d3716_0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5ba9aa710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Aqui está a lógica de controle central que implementamos.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Definimos três zonas operacionais com base na temperatura.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Abaixo de 24 graus, tudo está normal e a ventoinha está desligada.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Entre 24 e 28 graus, o sistema entra em estado de alerta. Aqui, a ventoinha liga e sua velocidade pode ser ajustada manualmente com o potenciômetro. Isso simula um operador fazendo um ajuste.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Se a temperatura exceder 28 graus, entramos em um estado crítico onde o controle manual é desativado e a ventoinha é forçada a 100% para garantir o resfriamento máximo.</a:t>
            </a:r>
            <a:endParaRPr sz="1400"/>
          </a:p>
        </p:txBody>
      </p:sp>
      <p:sp>
        <p:nvSpPr>
          <p:cNvPr id="193" name="Google Shape;193;g385ba9aa710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9c55d3716_0_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Passando para a configuração do mestre no Elipse E3.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primeiro passo é configurar o driver de comunicação, garantindo que todos os parâmetros seriais correspondam perfeitamente ao que definimos no Arduino.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segundo e mais importante passo é criar as tags. Uma tag é simplesmente uma variável dentro do Elipse. Criamos uma tag para cada dado, como 'Sensor_Temp', e a vinculamos diretamente ao endereço MODBUS correspondente no escravo.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 partir daqui, o Elipse lida com toda a comunicação automaticamente. Se quisermos ler a temperatura, apenas lemos o valor da tag 'Sensor_Temp'.</a:t>
            </a:r>
            <a:endParaRPr sz="1400"/>
          </a:p>
        </p:txBody>
      </p:sp>
      <p:sp>
        <p:nvSpPr>
          <p:cNvPr id="203" name="Google Shape;203;g389c55d3716_0_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9c55d3716_0_1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Passando para a configuração do mestre no Elipse E3.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primeiro passo é configurar o driver de comunicação, garantindo que todos os parâmetros seriais correspondam perfeitamente ao que definimos no Arduino.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segundo e mais importante passo é criar as tags. Uma tag é simplesmente uma variável dentro do Elipse. Criamos uma tag para cada dado, como 'Sensor_Temp', e a vinculamos diretamente ao endereço MODBUS correspondente no escravo.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 partir daqui, o Elipse lida com toda a comunicação automaticamente. Se quisermos ler a temperatura, apenas lemos o valor da tag 'Sensor_Temp'.</a:t>
            </a:r>
            <a:endParaRPr sz="1400"/>
          </a:p>
        </p:txBody>
      </p:sp>
      <p:sp>
        <p:nvSpPr>
          <p:cNvPr id="212" name="Google Shape;212;g389c55d3716_0_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9c55d3716_0_1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Esta é a interface de usuário final que desenvolvemos.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Cada elemento visual está vinculado a uma das tags que acabamos de criar.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display de temperatura está ligado à tag 'Sensor_Temp', o medidor do potenciômetro à sua tag, e assim por diante.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ícone da ventoinha não só visualiza o estado da ventoinha, mas também é animado para girar, fornecendo uma indicação visual intuitiva.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Esta interface permite que um operador entenda o estado do sistema com uma única olhada.</a:t>
            </a:r>
            <a:endParaRPr sz="1400"/>
          </a:p>
        </p:txBody>
      </p:sp>
      <p:sp>
        <p:nvSpPr>
          <p:cNvPr id="221" name="Google Shape;221;g389c55d3716_0_1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9c55d3716_0_1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Para validar nosso sistema, realizamos três testes.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No primeiro, sob condições normais de temperatura, você pode ver que o circuito físico tem o LED verde de 'OK' aceso e a ventoinha está parada.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 tela de supervisão espelha isso perfeitamente, mostrando uma temperatura baixa e 0% de uso da ventoinha. Isso confirma que nossas leituras de base estão funcionando.</a:t>
            </a:r>
            <a:endParaRPr sz="1400"/>
          </a:p>
        </p:txBody>
      </p:sp>
      <p:sp>
        <p:nvSpPr>
          <p:cNvPr id="230" name="Google Shape;230;g389c55d3716_0_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9c55d3716_0_1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Em seguida, aquecemos o sensor para entrar na zona de alerta.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Como você pode ver, o LED amarelo na placa acende e a ventoinha começa a girar.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A IHM mostra a temperatura correspondente e, crucialmente, um uso de 30,2% da ventoinha, que refletia diretamente a posição do potenciômetro naquele momento.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Isso validou nossa lógica de controle proporcional.</a:t>
            </a:r>
            <a:endParaRPr sz="1400"/>
          </a:p>
        </p:txBody>
      </p:sp>
      <p:sp>
        <p:nvSpPr>
          <p:cNvPr id="241" name="Google Shape;241;g389c55d3716_0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9c55d3716_0_1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Finalmente, para o teste crítico, elevamos a temperatura acima de 28°C.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LED vermelho acendeu imediatamente e a ventoinha foi para a potência máxima.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A IHM exibe corretamente 100% de uso da ventoinha.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Mesmo que girássemos o potenciômetro, a velocidade da ventoinha não mudava, validando que a segurança de override estava funcionando como projetado.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Em todos os testes, houve uma correspondência perfeita entre o sistema físico e a tela de supervisão.</a:t>
            </a:r>
            <a:endParaRPr sz="1400"/>
          </a:p>
        </p:txBody>
      </p:sp>
      <p:sp>
        <p:nvSpPr>
          <p:cNvPr id="252" name="Google Shape;252;g389c55d3716_0_1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9c55d3716_0_1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Em conclusão, este projeto foi um sucesso.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Construímos um sistema supervisório de ponta a ponta, confiável, que atendeu a todos os nossos objetivos iniciais.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Os principais desafios, como é comum em tais projetos, estiveram na configuração inicial e na garantia de que os mapas de registradores estivessem perfeitamente alinhados.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Superar esses obstáculos proporcionou uma experiência prática inestimável com o tipo de tecnologia usada na indústria todos os dias.</a:t>
            </a:r>
            <a:endParaRPr sz="1400"/>
          </a:p>
        </p:txBody>
      </p:sp>
      <p:sp>
        <p:nvSpPr>
          <p:cNvPr id="263" name="Google Shape;263;g389c55d3716_0_1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9c55d3716_0_1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Em conclusão, este projeto foi um sucesso.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Construímos um sistema supervisório de ponta a ponta, confiável, que atendeu a todos os nossos objetivos iniciais.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Os principais desafios, como é comum em tais projetos, estiveram na configuração inicial e na garantia de que os mapas de registradores estivessem perfeitamente alinhados. </a:t>
            </a:r>
            <a:endParaRPr sz="11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Superar esses obstáculos proporcionou uma experiência prática inestimável com o tipo de tecnologia usada na indústria todos os dias.</a:t>
            </a:r>
            <a:endParaRPr sz="1400"/>
          </a:p>
        </p:txBody>
      </p:sp>
      <p:sp>
        <p:nvSpPr>
          <p:cNvPr id="272" name="Google Shape;272;g389c55d3716_0_1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9c55d3716_0_2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Isso conclui minha apresentação. Agradeço pelo seu tempo e atenção. Gostaria agora de abrir espaço para quaisquer perguntas que possam ter.</a:t>
            </a:r>
            <a:endParaRPr sz="1400"/>
          </a:p>
        </p:txBody>
      </p:sp>
      <p:sp>
        <p:nvSpPr>
          <p:cNvPr id="281" name="Google Shape;281;g389c55d3716_0_2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3aaeb66bbe_3_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3aaeb66bbe_3_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43319" y="1411935"/>
            <a:ext cx="12118200" cy="3892200"/>
          </a:xfrm>
          <a:prstGeom prst="rect">
            <a:avLst/>
          </a:prstGeom>
        </p:spPr>
        <p:txBody>
          <a:bodyPr anchorCtr="0" anchor="b" bIns="144475" lIns="144475" spcFirstLastPara="1" rIns="144475" wrap="square" tIns="144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43307" y="5374341"/>
            <a:ext cx="12118200" cy="15030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43307" y="4078649"/>
            <a:ext cx="12118200" cy="15963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43307" y="843899"/>
            <a:ext cx="12118200" cy="10860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43307" y="2185434"/>
            <a:ext cx="12118200" cy="64785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43307" y="843899"/>
            <a:ext cx="12118200" cy="10860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43307" y="2185434"/>
            <a:ext cx="5688600" cy="64785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872747" y="2185434"/>
            <a:ext cx="5688600" cy="64785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43307" y="843899"/>
            <a:ext cx="12118200" cy="10860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43307" y="1053582"/>
            <a:ext cx="3993600" cy="1433100"/>
          </a:xfrm>
          <a:prstGeom prst="rect">
            <a:avLst/>
          </a:prstGeom>
        </p:spPr>
        <p:txBody>
          <a:bodyPr anchorCtr="0" anchor="b" bIns="144475" lIns="144475" spcFirstLastPara="1" rIns="144475" wrap="square" tIns="144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43307" y="2635093"/>
            <a:ext cx="3993600" cy="60291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97244" y="853618"/>
            <a:ext cx="9056400" cy="7757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502400" y="-237"/>
            <a:ext cx="6502500" cy="975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4475" lIns="144475" spcFirstLastPara="1" rIns="144475" wrap="square" tIns="14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77600" y="2338465"/>
            <a:ext cx="5753100" cy="2811000"/>
          </a:xfrm>
          <a:prstGeom prst="rect">
            <a:avLst/>
          </a:prstGeom>
        </p:spPr>
        <p:txBody>
          <a:bodyPr anchorCtr="0" anchor="b" bIns="144475" lIns="144475" spcFirstLastPara="1" rIns="144475" wrap="square" tIns="144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77600" y="5315461"/>
            <a:ext cx="5753100" cy="23421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7025067" y="1373061"/>
            <a:ext cx="5457000" cy="70071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43307" y="8022424"/>
            <a:ext cx="8531700" cy="11475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43307" y="2097541"/>
            <a:ext cx="12118200" cy="3723300"/>
          </a:xfrm>
          <a:prstGeom prst="rect">
            <a:avLst/>
          </a:prstGeom>
        </p:spPr>
        <p:txBody>
          <a:bodyPr anchorCtr="0" anchor="b" bIns="144475" lIns="144475" spcFirstLastPara="1" rIns="144475" wrap="square" tIns="144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43307" y="5977553"/>
            <a:ext cx="12118200" cy="2466600"/>
          </a:xfrm>
          <a:prstGeom prst="rect">
            <a:avLst/>
          </a:prstGeom>
        </p:spPr>
        <p:txBody>
          <a:bodyPr anchorCtr="0" anchor="t" bIns="144475" lIns="144475" spcFirstLastPara="1" rIns="144475" wrap="square" tIns="144475">
            <a:norm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icio" showMasterSp="0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004799" cy="97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9320107" y="8779792"/>
            <a:ext cx="3034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65000" spcFirstLastPara="1" rIns="65000" wrap="square" tIns="650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  <a:defRPr>
                <a:solidFill>
                  <a:srgbClr val="8BC5A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  <a:defRPr>
                <a:solidFill>
                  <a:srgbClr val="8BC5A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  <a:defRPr>
                <a:solidFill>
                  <a:srgbClr val="8BC5A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  <a:defRPr>
                <a:solidFill>
                  <a:srgbClr val="8BC5A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  <a:defRPr>
                <a:solidFill>
                  <a:srgbClr val="8BC5A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  <a:defRPr>
                <a:solidFill>
                  <a:srgbClr val="8BC5A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  <a:defRPr>
                <a:solidFill>
                  <a:srgbClr val="8BC5A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  <a:defRPr>
                <a:solidFill>
                  <a:srgbClr val="8BC5A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  <a:defRPr>
                <a:solidFill>
                  <a:srgbClr val="8BC5A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20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">
  <p:cSld name="Corpo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65000" spcFirstLastPara="1" rIns="65000" wrap="square" tIns="65000">
            <a:spAutoFit/>
          </a:bodyPr>
          <a:lstStyle>
            <a:lvl1pPr indent="0" lvl="0" marL="0">
              <a:buClr>
                <a:srgbClr val="339745"/>
              </a:buClr>
              <a:buSzPts val="2000"/>
              <a:buFont typeface="Calibri"/>
              <a:buNone/>
              <a:defRPr b="0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>
              <a:buClr>
                <a:srgbClr val="339745"/>
              </a:buClr>
              <a:buSzPts val="2000"/>
              <a:buFont typeface="Calibri"/>
              <a:buNone/>
              <a:defRPr b="0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>
              <a:buClr>
                <a:srgbClr val="339745"/>
              </a:buClr>
              <a:buSzPts val="2000"/>
              <a:buFont typeface="Calibri"/>
              <a:buNone/>
              <a:defRPr b="0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>
              <a:buClr>
                <a:srgbClr val="339745"/>
              </a:buClr>
              <a:buSzPts val="2000"/>
              <a:buFont typeface="Calibri"/>
              <a:buNone/>
              <a:defRPr b="0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>
              <a:buClr>
                <a:srgbClr val="339745"/>
              </a:buClr>
              <a:buSzPts val="2000"/>
              <a:buFont typeface="Calibri"/>
              <a:buNone/>
              <a:defRPr b="0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>
              <a:buClr>
                <a:srgbClr val="339745"/>
              </a:buClr>
              <a:buSzPts val="2000"/>
              <a:buFont typeface="Calibri"/>
              <a:buNone/>
              <a:defRPr b="0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>
              <a:buClr>
                <a:srgbClr val="339745"/>
              </a:buClr>
              <a:buSzPts val="2000"/>
              <a:buFont typeface="Calibri"/>
              <a:buNone/>
              <a:defRPr b="0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>
              <a:buClr>
                <a:srgbClr val="339745"/>
              </a:buClr>
              <a:buSzPts val="2000"/>
              <a:buFont typeface="Calibri"/>
              <a:buNone/>
              <a:defRPr b="0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>
              <a:buClr>
                <a:srgbClr val="339745"/>
              </a:buClr>
              <a:buSzPts val="2000"/>
              <a:buFont typeface="Calibri"/>
              <a:buNone/>
              <a:defRPr b="0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3307" y="843899"/>
            <a:ext cx="121182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475" lIns="144475" spcFirstLastPara="1" rIns="144475" wrap="square" tIns="144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3307" y="2185434"/>
            <a:ext cx="12118200" cy="6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475" lIns="144475" spcFirstLastPara="1" rIns="144475" wrap="square" tIns="144475">
            <a:normAutofit/>
          </a:bodyPr>
          <a:lstStyle>
            <a:lvl1pPr indent="-406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2049718" y="8842841"/>
            <a:ext cx="7803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475" lIns="144475" spcFirstLastPara="1" rIns="144475" wrap="square" tIns="144475">
            <a:normAutofit/>
          </a:bodyPr>
          <a:lstStyle>
            <a:lvl1pPr lvl="0" algn="r">
              <a:buNone/>
              <a:defRPr sz="1600">
                <a:solidFill>
                  <a:schemeClr val="dk2"/>
                </a:solidFill>
              </a:defRPr>
            </a:lvl1pPr>
            <a:lvl2pPr lvl="1" algn="r">
              <a:buNone/>
              <a:defRPr sz="1600">
                <a:solidFill>
                  <a:schemeClr val="dk2"/>
                </a:solidFill>
              </a:defRPr>
            </a:lvl2pPr>
            <a:lvl3pPr lvl="2" algn="r">
              <a:buNone/>
              <a:defRPr sz="1600">
                <a:solidFill>
                  <a:schemeClr val="dk2"/>
                </a:solidFill>
              </a:defRPr>
            </a:lvl3pPr>
            <a:lvl4pPr lvl="3" algn="r">
              <a:buNone/>
              <a:defRPr sz="1600">
                <a:solidFill>
                  <a:schemeClr val="dk2"/>
                </a:solidFill>
              </a:defRPr>
            </a:lvl4pPr>
            <a:lvl5pPr lvl="4" algn="r">
              <a:buNone/>
              <a:defRPr sz="1600">
                <a:solidFill>
                  <a:schemeClr val="dk2"/>
                </a:solidFill>
              </a:defRPr>
            </a:lvl5pPr>
            <a:lvl6pPr lvl="5" algn="r">
              <a:buNone/>
              <a:defRPr sz="1600">
                <a:solidFill>
                  <a:schemeClr val="dk2"/>
                </a:solidFill>
              </a:defRPr>
            </a:lvl6pPr>
            <a:lvl7pPr lvl="6" algn="r">
              <a:buNone/>
              <a:defRPr sz="1600">
                <a:solidFill>
                  <a:schemeClr val="dk2"/>
                </a:solidFill>
              </a:defRPr>
            </a:lvl7pPr>
            <a:lvl8pPr lvl="7" algn="r">
              <a:buNone/>
              <a:defRPr sz="1600">
                <a:solidFill>
                  <a:schemeClr val="dk2"/>
                </a:solidFill>
              </a:defRPr>
            </a:lvl8pPr>
            <a:lvl9pPr lvl="8" algn="r">
              <a:buNone/>
              <a:defRPr sz="1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/>
        </p:nvSpPr>
        <p:spPr>
          <a:xfrm>
            <a:off x="-4349" y="4043453"/>
            <a:ext cx="130047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</a:rPr>
              <a:t>Comunicação via MODBUS RTU entre Arduino e PC</a:t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Calibri"/>
              <a:buNone/>
            </a:pPr>
            <a:r>
              <a:t/>
            </a:r>
            <a:endParaRPr sz="6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4809107" y="3383695"/>
            <a:ext cx="180849" cy="485649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-4346" y="8883650"/>
            <a:ext cx="130047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F0B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20F0B"/>
                </a:solidFill>
              </a:rPr>
              <a:t>Chapecó</a:t>
            </a:r>
            <a:r>
              <a:rPr b="0" i="0" lang="en-US" sz="2000" u="none" cap="none" strike="noStrike">
                <a:solidFill>
                  <a:srgbClr val="020F0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>
                <a:solidFill>
                  <a:srgbClr val="020F0B"/>
                </a:solidFill>
              </a:rPr>
              <a:t>outubro</a:t>
            </a:r>
            <a:r>
              <a:rPr b="0" i="0" lang="en-US" sz="2000" u="none" cap="none" strike="noStrike">
                <a:solidFill>
                  <a:srgbClr val="020F0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20F0B"/>
                </a:solidFill>
              </a:rPr>
              <a:t>de 2025</a:t>
            </a:r>
            <a:endParaRPr b="0" i="0" sz="2000" u="none" cap="none" strike="noStrike">
              <a:solidFill>
                <a:srgbClr val="020F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29850" y="6238700"/>
            <a:ext cx="122343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alibri"/>
              <a:buNone/>
            </a:pPr>
            <a:r>
              <a:rPr lang="en-US" sz="3600"/>
              <a:t>Discentes</a:t>
            </a:r>
            <a:r>
              <a:rPr lang="en-US" sz="3600"/>
              <a:t>: </a:t>
            </a:r>
            <a:br>
              <a:rPr i="0" lang="en-US" sz="3600" u="none" cap="none" strike="noStrike">
                <a:solidFill>
                  <a:srgbClr val="000000"/>
                </a:solidFill>
              </a:rPr>
            </a:br>
            <a:r>
              <a:rPr lang="en-US" sz="3600">
                <a:solidFill>
                  <a:schemeClr val="dk1"/>
                </a:solidFill>
              </a:rPr>
              <a:t>João Emiliano H. Freitas, Guilherme E. Tome</a:t>
            </a:r>
            <a:r>
              <a:rPr lang="en-US" sz="3600">
                <a:solidFill>
                  <a:schemeClr val="dk1"/>
                </a:solidFill>
              </a:rPr>
              <a:t>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-4350" y="1769900"/>
            <a:ext cx="130047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alibri"/>
              <a:buNone/>
            </a:pPr>
            <a:r>
              <a:rPr lang="en-US" sz="3900"/>
              <a:t>Unidade Curricular: Redes Industriais</a:t>
            </a:r>
            <a:endParaRPr sz="3900">
              <a:solidFill>
                <a:schemeClr val="dk1"/>
              </a:solidFill>
            </a:endParaRPr>
          </a:p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9863532" y="9176617"/>
            <a:ext cx="30345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BC5A3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33974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rgbClr val="3397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-4350" y="4881050"/>
            <a:ext cx="130047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alibri"/>
              <a:buNone/>
            </a:pPr>
            <a:r>
              <a:rPr lang="en-US" sz="3400"/>
              <a:t>Um sistema supervisório de controle e aquisição de dados</a:t>
            </a:r>
            <a:endParaRPr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44250" y="480675"/>
            <a:ext cx="10922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latin typeface="Times New Roman"/>
                <a:ea typeface="Times New Roman"/>
                <a:cs typeface="Times New Roman"/>
                <a:sym typeface="Times New Roman"/>
              </a:rPr>
              <a:t>1.		Roteiro (agenda)</a:t>
            </a:r>
            <a:endParaRPr b="1" sz="4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0" y="2480563"/>
            <a:ext cx="12426000" cy="58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9144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1 - </a:t>
            </a: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ao Projeto: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"Porquê" - Motivação e Objetivos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2 - </a:t>
            </a: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Tecnologias Essenciais: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MODBUS RTU, Elipse E3 e Arduino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3 - </a:t>
            </a: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Implementação do Sistema: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3" marL="27432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Montagem do Hardware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3" marL="2743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Programação do Arduino (Escravo)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3" marL="2743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nfiguração do Elipse E3 (Mestre)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4 - </a:t>
            </a: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Demonstração e Resultados: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Validando a Funcionalidade do Sistema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5 - </a:t>
            </a: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Conclusão: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Principais Aprendizados, Desafios e Escopo Futuro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A Necessidade de Sistemas Supervisórios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1910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b="1" lang="en-US" sz="3000">
                <a:solidFill>
                  <a:srgbClr val="1B1C1D"/>
                </a:solidFill>
              </a:rPr>
              <a:t>Problema:</a:t>
            </a:r>
            <a:r>
              <a:rPr lang="en-US" sz="3000">
                <a:solidFill>
                  <a:srgbClr val="1B1C1D"/>
                </a:solidFill>
              </a:rPr>
              <a:t> Na automação moderna, a comunicação eficiente entre sistemas supervisórios e controladores embarcados (como CLPs ou Arduino) é essencial para o monitoramento e controle de processos em tempo real.</a:t>
            </a:r>
            <a:endParaRPr baseline="30000" sz="3000">
              <a:solidFill>
                <a:srgbClr val="575B5F"/>
              </a:solidFill>
              <a:highlight>
                <a:srgbClr val="FFFFFF"/>
              </a:highlight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b="1" lang="en-US" sz="3000">
                <a:solidFill>
                  <a:srgbClr val="1B1C1D"/>
                </a:solidFill>
              </a:rPr>
              <a:t> Solução:</a:t>
            </a:r>
            <a:r>
              <a:rPr lang="en-US" sz="3000">
                <a:solidFill>
                  <a:srgbClr val="1B1C1D"/>
                </a:solidFill>
              </a:rPr>
              <a:t> Utilizar um protocolo industrial robusto, simples e amplamente adotado.</a:t>
            </a:r>
            <a:endParaRPr sz="3000">
              <a:solidFill>
                <a:srgbClr val="1B1C1D"/>
              </a:solidFill>
            </a:endParaRPr>
          </a:p>
          <a:p>
            <a:pPr indent="-41910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b="1" lang="en-US" sz="3000">
                <a:solidFill>
                  <a:srgbClr val="1B1C1D"/>
                </a:solidFill>
              </a:rPr>
              <a:t>Nossa Escolha</a:t>
            </a:r>
            <a:r>
              <a:rPr b="1" lang="en-US" sz="3000">
                <a:solidFill>
                  <a:srgbClr val="1B1C1D"/>
                </a:solidFill>
              </a:rPr>
              <a:t>: MODBUS RTU. </a:t>
            </a:r>
            <a:r>
              <a:rPr lang="en-US" sz="3000">
                <a:solidFill>
                  <a:srgbClr val="1B1C1D"/>
                </a:solidFill>
              </a:rPr>
              <a:t>Um padrão na rede industrial.</a:t>
            </a:r>
            <a:endParaRPr baseline="30000" sz="3000">
              <a:solidFill>
                <a:srgbClr val="575B5F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81" name="Google Shape;81;p17" title="superv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6500" y="6052075"/>
            <a:ext cx="8484176" cy="31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1-Introdução ao projeto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Objetivos do Projeto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191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i="1" lang="en-US" sz="3000">
                <a:solidFill>
                  <a:srgbClr val="1B1C1D"/>
                </a:solidFill>
              </a:rPr>
              <a:t>Estabelecer uma comunicação MODBUS RTU bidirecional e estável entre um PC (Mestre) e um Arduino (Escravo).</a:t>
            </a:r>
            <a:endParaRPr i="1" sz="3000">
              <a:solidFill>
                <a:srgbClr val="1B1C1D"/>
              </a:solidFill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b="1" lang="en-US" sz="3000">
                <a:solidFill>
                  <a:srgbClr val="1B1C1D"/>
                </a:solidFill>
              </a:rPr>
              <a:t>Aquisição de Dados:</a:t>
            </a:r>
            <a:endParaRPr b="1" sz="3000">
              <a:solidFill>
                <a:srgbClr val="1B1C1D"/>
              </a:solidFill>
            </a:endParaRPr>
          </a:p>
          <a:p>
            <a:pPr indent="-4191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lang="en-US" sz="3000">
                <a:solidFill>
                  <a:srgbClr val="1B1C1D"/>
                </a:solidFill>
              </a:rPr>
              <a:t>Ler pelo menos um sinal analógico (sensor de temperatura e potenciômetro).</a:t>
            </a:r>
            <a:endParaRPr sz="3000">
              <a:solidFill>
                <a:srgbClr val="1B1C1D"/>
              </a:solidFill>
            </a:endParaRPr>
          </a:p>
          <a:p>
            <a:pPr indent="-4191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lang="en-US" sz="3000">
                <a:solidFill>
                  <a:srgbClr val="1B1C1D"/>
                </a:solidFill>
              </a:rPr>
              <a:t>Ler pelo menos um sinal discreto/digital (botão).</a:t>
            </a:r>
            <a:endParaRPr b="1" sz="3000">
              <a:solidFill>
                <a:srgbClr val="1B1C1D"/>
              </a:solidFill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b="1" lang="en-US" sz="3000">
                <a:solidFill>
                  <a:srgbClr val="1B1C1D"/>
                </a:solidFill>
              </a:rPr>
              <a:t>Controle:</a:t>
            </a:r>
            <a:endParaRPr b="1" sz="3000">
              <a:solidFill>
                <a:srgbClr val="1B1C1D"/>
              </a:solidFill>
            </a:endParaRPr>
          </a:p>
          <a:p>
            <a:pPr indent="-4191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lang="en-US" sz="3000">
                <a:solidFill>
                  <a:srgbClr val="1B1C1D"/>
                </a:solidFill>
              </a:rPr>
              <a:t>Enviar comandos do PC para o Arduino para controlar um atuador (uma ventoinha). </a:t>
            </a:r>
            <a:endParaRPr sz="3000">
              <a:solidFill>
                <a:srgbClr val="1B1C1D"/>
              </a:solidFill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b="1" lang="en-US" sz="3000">
                <a:solidFill>
                  <a:srgbClr val="1B1C1D"/>
                </a:solidFill>
              </a:rPr>
              <a:t>Supervisão:</a:t>
            </a:r>
            <a:endParaRPr b="1" sz="3000">
              <a:solidFill>
                <a:srgbClr val="1B1C1D"/>
              </a:solidFill>
            </a:endParaRPr>
          </a:p>
          <a:p>
            <a:pPr indent="-4191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lang="en-US" sz="3000">
                <a:solidFill>
                  <a:srgbClr val="1B1C1D"/>
                </a:solidFill>
              </a:rPr>
              <a:t>Desenvolver uma interface gráfica (GUI) usando o Elipse E3 para exibir dados em tempo real e fornecer controles ao usuário.</a:t>
            </a:r>
            <a:r>
              <a:rPr b="1" lang="en-US" sz="3000">
                <a:solidFill>
                  <a:srgbClr val="1B1C1D"/>
                </a:solidFill>
              </a:rPr>
              <a:t> </a:t>
            </a:r>
            <a:endParaRPr b="1" sz="3000">
              <a:solidFill>
                <a:srgbClr val="1B1C1D"/>
              </a:solidFill>
            </a:endParaRPr>
          </a:p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B1C1D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1-Introdução ao projeto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9200" y="7529150"/>
            <a:ext cx="4406700" cy="16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O que é o Protocolo MODBUS RTU?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191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lang="en-US" sz="3000">
                <a:solidFill>
                  <a:srgbClr val="1B1C1D"/>
                </a:solidFill>
              </a:rPr>
              <a:t>Um protocolo de comunicação serial mestre-escravo desenvolvido pela Modicon na década de 1970.</a:t>
            </a:r>
            <a:endParaRPr sz="3000">
              <a:solidFill>
                <a:srgbClr val="1B1C1D"/>
              </a:solidFill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lang="en-US" sz="3000">
                <a:solidFill>
                  <a:srgbClr val="1B1C1D"/>
                </a:solidFill>
              </a:rPr>
              <a:t>Mestre (Nosso PC): Inicia toda a comunicação. Ele envia requisições (pedidos) aos escravos.</a:t>
            </a:r>
            <a:endParaRPr sz="3000">
              <a:solidFill>
                <a:srgbClr val="1B1C1D"/>
              </a:solidFill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lang="en-US" sz="3000">
                <a:solidFill>
                  <a:srgbClr val="1B1C1D"/>
                </a:solidFill>
              </a:rPr>
              <a:t>Escravos (Nosso Arduino): Respondem às requisições do mestre. Eles nunca iniciam a comunicação.</a:t>
            </a:r>
            <a:endParaRPr sz="3000">
              <a:solidFill>
                <a:srgbClr val="1B1C1D"/>
              </a:solidFill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3000"/>
              <a:buChar char="●"/>
            </a:pPr>
            <a:r>
              <a:rPr lang="en-US" sz="3000">
                <a:solidFill>
                  <a:srgbClr val="1B1C1D"/>
                </a:solidFill>
              </a:rPr>
              <a:t>RTU (Remote Terminal Unit): Utiliza uma representação binária dos dados para maior eficiência em linhas seriais (RS-232, RS-485).</a:t>
            </a:r>
            <a:endParaRPr sz="3000">
              <a:solidFill>
                <a:srgbClr val="1B1C1D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Tecnologias Essenciais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625" y="6013050"/>
            <a:ext cx="6877475" cy="31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Estrutura da Mensagem e Registradores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Quadro da Mensagem:</a:t>
            </a:r>
            <a:endParaRPr b="1"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Endereço do Escravo (1 byte):</a:t>
            </a:r>
            <a:r>
              <a:rPr lang="en-US" sz="2800">
                <a:solidFill>
                  <a:srgbClr val="1B1C1D"/>
                </a:solidFill>
              </a:rPr>
              <a:t> Para quem é esta mensagem?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Código de Função (1 byte):</a:t>
            </a:r>
            <a:r>
              <a:rPr lang="en-US" sz="2800">
                <a:solidFill>
                  <a:srgbClr val="1B1C1D"/>
                </a:solidFill>
              </a:rPr>
              <a:t> Qual ação executar? (ex: Leitura, Escrita).	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Dados (N bytes):</a:t>
            </a:r>
            <a:r>
              <a:rPr lang="en-US" sz="2800">
                <a:solidFill>
                  <a:srgbClr val="1B1C1D"/>
                </a:solidFill>
              </a:rPr>
              <a:t> A informação sendo transferida.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CRC (2 bytes): </a:t>
            </a:r>
            <a:r>
              <a:rPr lang="en-US" sz="2800">
                <a:solidFill>
                  <a:srgbClr val="1B1C1D"/>
                </a:solidFill>
              </a:rPr>
              <a:t>Verificação de erros para garantir a integridade dos dados.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2-Tecnologias Essenciais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875" y="5682866"/>
            <a:ext cx="10815050" cy="39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Estrutura da Mensagem e Registradores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Os dados são armazenados em 4 tipos de registradores:</a:t>
            </a:r>
            <a:r>
              <a:rPr lang="en-US" sz="2800">
                <a:solidFill>
                  <a:srgbClr val="1B1C1D"/>
                </a:solidFill>
              </a:rPr>
              <a:t> 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Entradas Discretas (Read-Only): Entradas digitais (ex: status de um botão).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Bobinas (Coils - Read/Write): Saídas digitais (ex: ligar/desligar um LED simples).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Registradores de Entrada (Read-Only): Entradas analógicas (ex: leituras de sensores).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Registradores de Retenção (Holding Registers - Read/Write): Saídas/Configurações analógicas (ex: valor PWM para uma ventoinha).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2-Tecnologias Essenciais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Elipse E3: O Software Supervisório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Um software </a:t>
            </a:r>
            <a:r>
              <a:rPr b="1" lang="en-US" sz="2800">
                <a:solidFill>
                  <a:srgbClr val="1B1C1D"/>
                </a:solidFill>
              </a:rPr>
              <a:t>SCADA</a:t>
            </a:r>
            <a:r>
              <a:rPr lang="en-US" sz="2800">
                <a:solidFill>
                  <a:srgbClr val="1B1C1D"/>
                </a:solidFill>
              </a:rPr>
              <a:t> (Supervisory Control and Data Acquisition).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Funções Utilizadas no Projeto: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Aquisição e tratamento de dados em tempo real.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Envío</a:t>
            </a:r>
            <a:r>
              <a:rPr lang="en-US" sz="2800">
                <a:solidFill>
                  <a:srgbClr val="1B1C1D"/>
                </a:solidFill>
              </a:rPr>
              <a:t> de comandos para dispositivos de campo.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Possui um driver MODBUS RTU integrado para fácil configuração.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Nosso Papel: O Elipse E3 atua como o Mestre MODBUS, solicitando dados do Arduino e apresentando-os em uma interface customizada.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2-Tecnologias Essenciais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6225" y="5468650"/>
            <a:ext cx="6942474" cy="39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Arduino: O Controlador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Uma plataforma de prototipagem eletrônica de baixo custo e código aberto.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Em nosso projeto: Configurado como um escravo MODBUS RTU.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Lê dados de sensores (Temperatura, Potenciômetro).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Controla atuadores (Ventoinha, LEDs).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Gerencia o banco de registradores MODBUS para fornecer dados ao mestre.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Implementação: Realizada com bibliotecas C++ específicas , como a  </a:t>
            </a:r>
            <a:r>
              <a:rPr b="1" i="1" lang="en-US" sz="2800">
                <a:solidFill>
                  <a:srgbClr val="1B1C1D"/>
                </a:solidFill>
              </a:rPr>
              <a:t>ModbusSlave.h</a:t>
            </a:r>
            <a:r>
              <a:rPr lang="en-US" sz="2800">
                <a:solidFill>
                  <a:srgbClr val="1B1C1D"/>
                </a:solidFill>
              </a:rPr>
              <a:t> que lidam com a complexidade do protocolo.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2-Tecnologias Essenciais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575" y="6156800"/>
            <a:ext cx="4535700" cy="38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Montagem do Hardware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940000" y="1854125"/>
            <a:ext cx="67782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38735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500"/>
              <a:buChar char="●"/>
            </a:pPr>
            <a:r>
              <a:rPr lang="en-US" sz="2500">
                <a:solidFill>
                  <a:srgbClr val="1B1C1D"/>
                </a:solidFill>
              </a:rPr>
              <a:t>Núcleo: Arduino Uno. </a:t>
            </a:r>
            <a:endParaRPr sz="2500">
              <a:solidFill>
                <a:srgbClr val="1B1C1D"/>
              </a:solidFill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●"/>
            </a:pPr>
            <a:r>
              <a:rPr lang="en-US" sz="2500">
                <a:solidFill>
                  <a:srgbClr val="1B1C1D"/>
                </a:solidFill>
              </a:rPr>
              <a:t>Sensores:</a:t>
            </a:r>
            <a:endParaRPr sz="2500">
              <a:solidFill>
                <a:srgbClr val="1B1C1D"/>
              </a:solidFill>
            </a:endParaRPr>
          </a:p>
          <a:p>
            <a:pPr indent="-387350" lvl="1" marL="914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○"/>
            </a:pPr>
            <a:r>
              <a:rPr lang="en-US" sz="2500">
                <a:solidFill>
                  <a:srgbClr val="1B1C1D"/>
                </a:solidFill>
              </a:rPr>
              <a:t>Sensor de Temperatura DHT22 (ou DHT11, conforme mencionado na conclusão).</a:t>
            </a:r>
            <a:endParaRPr sz="2500">
              <a:solidFill>
                <a:srgbClr val="1B1C1D"/>
              </a:solidFill>
            </a:endParaRPr>
          </a:p>
          <a:p>
            <a:pPr indent="-387350" lvl="1" marL="914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○"/>
            </a:pPr>
            <a:r>
              <a:rPr lang="en-US" sz="2500">
                <a:solidFill>
                  <a:srgbClr val="1B1C1D"/>
                </a:solidFill>
              </a:rPr>
              <a:t>Potenciômetro de 10 kΩ para entrada manual.</a:t>
            </a:r>
            <a:endParaRPr sz="2500">
              <a:solidFill>
                <a:srgbClr val="1B1C1D"/>
              </a:solidFill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●"/>
            </a:pPr>
            <a:r>
              <a:rPr lang="en-US" sz="2500">
                <a:solidFill>
                  <a:srgbClr val="1B1C1D"/>
                </a:solidFill>
              </a:rPr>
              <a:t>Atuadores:</a:t>
            </a:r>
            <a:endParaRPr sz="2500">
              <a:solidFill>
                <a:srgbClr val="1B1C1D"/>
              </a:solidFill>
            </a:endParaRPr>
          </a:p>
          <a:p>
            <a:pPr indent="-387350" lvl="1" marL="914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○"/>
            </a:pPr>
            <a:r>
              <a:rPr lang="en-US" sz="2500">
                <a:solidFill>
                  <a:srgbClr val="1B1C1D"/>
                </a:solidFill>
              </a:rPr>
              <a:t>Ventoinha DC de 12 V.</a:t>
            </a:r>
            <a:endParaRPr sz="2500">
              <a:solidFill>
                <a:srgbClr val="1B1C1D"/>
              </a:solidFill>
            </a:endParaRPr>
          </a:p>
          <a:p>
            <a:pPr indent="-387350" lvl="1" marL="914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○"/>
            </a:pPr>
            <a:r>
              <a:rPr lang="en-US" sz="2500">
                <a:solidFill>
                  <a:srgbClr val="1B1C1D"/>
                </a:solidFill>
              </a:rPr>
              <a:t>LEDs indicadores (Vermelho, Amarelo, Verde).</a:t>
            </a:r>
            <a:endParaRPr sz="2500">
              <a:solidFill>
                <a:srgbClr val="1B1C1D"/>
              </a:solidFill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●"/>
            </a:pPr>
            <a:r>
              <a:rPr lang="en-US" sz="2500">
                <a:solidFill>
                  <a:srgbClr val="1B1C1D"/>
                </a:solidFill>
              </a:rPr>
              <a:t>Circuito de Controle:</a:t>
            </a:r>
            <a:endParaRPr sz="2500">
              <a:solidFill>
                <a:srgbClr val="1B1C1D"/>
              </a:solidFill>
            </a:endParaRPr>
          </a:p>
          <a:p>
            <a:pPr indent="-387350" lvl="1" marL="914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○"/>
            </a:pPr>
            <a:r>
              <a:rPr lang="en-US" sz="2500">
                <a:solidFill>
                  <a:srgbClr val="1B1C1D"/>
                </a:solidFill>
              </a:rPr>
              <a:t>MOSFET (IRF540N) para controlar a ventoinha de 12V a partir de um pino de 5V do Arduino (PWM).</a:t>
            </a:r>
            <a:endParaRPr sz="2500">
              <a:solidFill>
                <a:srgbClr val="1B1C1D"/>
              </a:solidFill>
            </a:endParaRPr>
          </a:p>
          <a:p>
            <a:pPr indent="-387350" lvl="1" marL="914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○"/>
            </a:pPr>
            <a:r>
              <a:rPr lang="en-US" sz="2500">
                <a:solidFill>
                  <a:srgbClr val="1B1C1D"/>
                </a:solidFill>
              </a:rPr>
              <a:t>Resistores para pull-up e limitação de corrente.</a:t>
            </a:r>
            <a:endParaRPr sz="2500">
              <a:solidFill>
                <a:srgbClr val="1B1C1D"/>
              </a:solidFill>
            </a:endParaRPr>
          </a:p>
          <a:p>
            <a:pPr indent="-387350" lvl="1" marL="914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500"/>
              <a:buChar char="○"/>
            </a:pPr>
            <a:r>
              <a:rPr lang="en-US" sz="2500">
                <a:solidFill>
                  <a:srgbClr val="1B1C1D"/>
                </a:solidFill>
              </a:rPr>
              <a:t>Fonte de alimentação externa de 9 V para o circuito.</a:t>
            </a:r>
            <a:endParaRPr sz="2500">
              <a:solidFill>
                <a:srgbClr val="1B1C1D"/>
              </a:solidFill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-Implementação do sistema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4307" l="0" r="0" t="13021"/>
          <a:stretch/>
        </p:blipFill>
        <p:spPr>
          <a:xfrm>
            <a:off x="8013100" y="2747625"/>
            <a:ext cx="4172850" cy="57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Arquitetura do sistema (Detalhadamente)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Arduino Uno:</a:t>
            </a:r>
            <a:r>
              <a:rPr lang="en-US" sz="2800">
                <a:solidFill>
                  <a:srgbClr val="1B1C1D"/>
                </a:solidFill>
              </a:rPr>
              <a:t> Responsável pelo processamento das informações e pela comunicação MODBUS com o supervisório.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Sensor de temperatura DHT11:</a:t>
            </a:r>
            <a:r>
              <a:rPr lang="en-US" sz="2800">
                <a:solidFill>
                  <a:srgbClr val="1B1C1D"/>
                </a:solidFill>
              </a:rPr>
              <a:t> Utilizado para monitorar a temperatura ambiente.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Potenciômetro de 10 kΩ:</a:t>
            </a:r>
            <a:r>
              <a:rPr lang="en-US" sz="2800">
                <a:solidFill>
                  <a:srgbClr val="1B1C1D"/>
                </a:solidFill>
              </a:rPr>
              <a:t> Para ajuste de um valor analógico de referência.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MOSFET IRF540N:</a:t>
            </a:r>
            <a:r>
              <a:rPr lang="en-US" sz="2800">
                <a:solidFill>
                  <a:srgbClr val="1B1C1D"/>
                </a:solidFill>
              </a:rPr>
              <a:t> Empregado no controle da ventoinha via sinal PWM.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Ventoinha DC de 12V:</a:t>
            </a:r>
            <a:r>
              <a:rPr lang="en-US" sz="2800">
                <a:solidFill>
                  <a:srgbClr val="1B1C1D"/>
                </a:solidFill>
              </a:rPr>
              <a:t> Atuador principal do sistema de resfriamento.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Capacitor eletrolítico de 100 µF:</a:t>
            </a:r>
            <a:r>
              <a:rPr lang="en-US" sz="2800">
                <a:solidFill>
                  <a:srgbClr val="1B1C1D"/>
                </a:solidFill>
              </a:rPr>
              <a:t> Para filtragem de ruídos.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Resistores de 10 kΩ e 220 Ω: </a:t>
            </a:r>
            <a:r>
              <a:rPr lang="en-US" sz="2800">
                <a:solidFill>
                  <a:srgbClr val="1B1C1D"/>
                </a:solidFill>
              </a:rPr>
              <a:t>Utilizados em funções de pull-up, pull-down e limitação de corrente.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LEDs indicadores:</a:t>
            </a:r>
            <a:r>
              <a:rPr lang="en-US" sz="2800">
                <a:solidFill>
                  <a:srgbClr val="1B1C1D"/>
                </a:solidFill>
              </a:rPr>
              <a:t> Para visualização do estado do sistema.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Fonte de alimentação de 9V:</a:t>
            </a:r>
            <a:r>
              <a:rPr lang="en-US" sz="2800">
                <a:solidFill>
                  <a:srgbClr val="1B1C1D"/>
                </a:solidFill>
              </a:rPr>
              <a:t> Responsável por energizar o circuito.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Protoboard e jumpers:</a:t>
            </a:r>
            <a:r>
              <a:rPr lang="en-US" sz="2800">
                <a:solidFill>
                  <a:srgbClr val="1B1C1D"/>
                </a:solidFill>
              </a:rPr>
              <a:t> Para a montagem experimental.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3-Implementação do sistema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Arduino (Escravo) - Configuração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Bibliotecas Utilizadas:</a:t>
            </a:r>
            <a:r>
              <a:rPr lang="en-US" sz="2800">
                <a:solidFill>
                  <a:srgbClr val="1B1C1D"/>
                </a:solidFill>
              </a:rPr>
              <a:t> </a:t>
            </a:r>
            <a:r>
              <a:rPr i="1" lang="en-US" sz="2800">
                <a:solidFill>
                  <a:srgbClr val="1B1C1D"/>
                </a:solidFill>
              </a:rPr>
              <a:t>modbus.h, modbusDevice.h, modbusRegBank.h e modbusSlave.h.</a:t>
            </a:r>
            <a:endParaRPr i="1"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Configuração da Comunicação:</a:t>
            </a:r>
            <a:endParaRPr b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ID do Escravo: 1 (Identificador único na rede).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Taxa de transmissão (Baud Rate): 9600 bps.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Mapeamento de Registradores (O elo crucial):</a:t>
            </a:r>
            <a:endParaRPr b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Entradas Discretas:</a:t>
            </a:r>
            <a:endParaRPr sz="2800">
              <a:solidFill>
                <a:srgbClr val="1B1C1D"/>
              </a:solidFill>
            </a:endParaRPr>
          </a:p>
          <a:p>
            <a:pPr indent="-406400" lvl="4" marL="22860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○"/>
            </a:pPr>
            <a:r>
              <a:rPr lang="en-US" sz="2800">
                <a:solidFill>
                  <a:srgbClr val="1B1C1D"/>
                </a:solidFill>
              </a:rPr>
              <a:t>10002: Estado do Botão.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Registradores de Entrada (Dados de Sensores):</a:t>
            </a:r>
            <a:endParaRPr sz="2800">
              <a:solidFill>
                <a:srgbClr val="1B1C1D"/>
              </a:solidFill>
            </a:endParaRPr>
          </a:p>
          <a:p>
            <a:pPr indent="-406400" lvl="4" marL="22860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○"/>
            </a:pPr>
            <a:r>
              <a:rPr lang="en-US" sz="2800">
                <a:solidFill>
                  <a:srgbClr val="1B1C1D"/>
                </a:solidFill>
              </a:rPr>
              <a:t>30001: Potenciômetro (0-1023).</a:t>
            </a:r>
            <a:endParaRPr sz="2800">
              <a:solidFill>
                <a:srgbClr val="1B1C1D"/>
              </a:solidFill>
            </a:endParaRPr>
          </a:p>
          <a:p>
            <a:pPr indent="-406400" lvl="4" marL="22860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○"/>
            </a:pPr>
            <a:r>
              <a:rPr lang="en-US" sz="2800">
                <a:solidFill>
                  <a:srgbClr val="1B1C1D"/>
                </a:solidFill>
              </a:rPr>
              <a:t>30004: Temperatura (°C).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Registradores de Retenção (Controle/Saída):</a:t>
            </a:r>
            <a:endParaRPr sz="2800">
              <a:solidFill>
                <a:srgbClr val="1B1C1D"/>
              </a:solidFill>
            </a:endParaRPr>
          </a:p>
          <a:p>
            <a:pPr indent="-406400" lvl="4" marL="22860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○"/>
            </a:pPr>
            <a:r>
              <a:rPr lang="en-US" sz="2800">
                <a:solidFill>
                  <a:srgbClr val="1B1C1D"/>
                </a:solidFill>
              </a:rPr>
              <a:t>40015: Valor PWM da Ventoinha.</a:t>
            </a:r>
            <a:endParaRPr sz="2800">
              <a:solidFill>
                <a:srgbClr val="1B1C1D"/>
              </a:solidFill>
            </a:endParaRPr>
          </a:p>
          <a:p>
            <a:pPr indent="-406400" lvl="4" marL="22860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○"/>
            </a:pPr>
            <a:r>
              <a:rPr lang="en-US" sz="2800">
                <a:solidFill>
                  <a:srgbClr val="1B1C1D"/>
                </a:solidFill>
              </a:rPr>
              <a:t>40010 a 40014: Registradores de controle dos LEDs.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3-Implementação do sistema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000" y="8109025"/>
            <a:ext cx="12220800" cy="15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Arduino - Lógica de Sensores e Atuadores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Lógica do Loop Principal:</a:t>
            </a:r>
            <a:endParaRPr b="1"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Verificar Requisições MODBUS:</a:t>
            </a:r>
            <a:r>
              <a:rPr lang="en-US" sz="2800">
                <a:solidFill>
                  <a:srgbClr val="1B1C1D"/>
                </a:solidFill>
              </a:rPr>
              <a:t> Ouve e responde a quaisquer requisições do mestre (slave.poll()).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Ler Sensores:</a:t>
            </a:r>
            <a:endParaRPr b="1"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Lê a temperatura do DHT22.</a:t>
            </a:r>
            <a:endParaRPr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Usa a função </a:t>
            </a:r>
            <a:r>
              <a:rPr i="1" lang="en-US" sz="2800">
                <a:solidFill>
                  <a:srgbClr val="1B1C1D"/>
                </a:solidFill>
              </a:rPr>
              <a:t>isnan()</a:t>
            </a:r>
            <a:r>
              <a:rPr lang="en-US" sz="2800">
                <a:solidFill>
                  <a:srgbClr val="1B1C1D"/>
                </a:solidFill>
              </a:rPr>
              <a:t> para verificar leituras válidas antes de atualizar o registrador, evitando erros.</a:t>
            </a:r>
            <a:endParaRPr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Lê o valor do potenciômetro (0-1023).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Aplicar Lógica de Controle:</a:t>
            </a:r>
            <a:endParaRPr b="1"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Executa o algoritmo de controle de temperatura para a ventoinha.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Atualizar Registradores:</a:t>
            </a:r>
            <a:endParaRPr b="1"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Escreve os novos valores dos sensores e estados dos atuadores nos registradores MODBUS locais.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Repetir.</a:t>
            </a:r>
            <a:endParaRPr b="1" sz="2800">
              <a:solidFill>
                <a:srgbClr val="1B1C1D"/>
              </a:solidFill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3-Implementação do sistema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Algoritmo de Controle de Temperatura</a:t>
            </a:r>
            <a:endParaRPr b="1"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8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302225" y="2225475"/>
            <a:ext cx="7775400" cy="6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Zona 1: Normal (Temp &lt; 24°C)</a:t>
            </a:r>
            <a:endParaRPr b="1"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Ventoinha DESLIGADA (PWM = 0).</a:t>
            </a:r>
            <a:endParaRPr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LED Verde LIGADO.</a:t>
            </a:r>
            <a:endParaRPr i="1" sz="2800">
              <a:solidFill>
                <a:srgbClr val="1B1C1D"/>
              </a:solidFill>
            </a:endParaRPr>
          </a:p>
          <a:p>
            <a:pPr indent="0" lvl="0" marL="18288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1B1C1D"/>
              </a:solidFill>
            </a:endParaRPr>
          </a:p>
          <a:p>
            <a:pPr indent="0" lvl="0" marL="18288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1B1C1D"/>
              </a:solidFill>
            </a:endParaRPr>
          </a:p>
          <a:p>
            <a:pPr indent="0" lvl="0" marL="18288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1B1C1D"/>
              </a:solidFill>
            </a:endParaRPr>
          </a:p>
          <a:p>
            <a:pPr indent="0" lvl="0" marL="18288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Zona 2: Alerta (24°C ≤ Temp ≤ 28°C)</a:t>
            </a:r>
            <a:endParaRPr b="1"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Velocidade da ventoinha é proporcional ao valor do potenciômetro.</a:t>
            </a:r>
            <a:endParaRPr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O PWM é mapeado entre 70 e 200, permitindo ajuste manual.</a:t>
            </a:r>
            <a:endParaRPr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LED Amarelo LIGADO.</a:t>
            </a:r>
            <a:endParaRPr i="1" sz="2800">
              <a:solidFill>
                <a:srgbClr val="1B1C1D"/>
              </a:solidFill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3-Implementação do sistema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 rotWithShape="1">
          <a:blip r:embed="rId3">
            <a:alphaModFix/>
          </a:blip>
          <a:srcRect b="0" l="0" r="0" t="24110"/>
          <a:stretch/>
        </p:blipFill>
        <p:spPr>
          <a:xfrm>
            <a:off x="8997427" y="1854150"/>
            <a:ext cx="3327675" cy="33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 rotWithShape="1">
          <a:blip r:embed="rId4">
            <a:alphaModFix/>
          </a:blip>
          <a:srcRect b="0" l="0" r="0" t="26454"/>
          <a:stretch/>
        </p:blipFill>
        <p:spPr>
          <a:xfrm>
            <a:off x="8997413" y="5671275"/>
            <a:ext cx="3327675" cy="342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Algoritmo de Controle de Temperatura</a:t>
            </a:r>
            <a:endParaRPr b="1"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9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544250" y="2787875"/>
            <a:ext cx="7378200" cy="6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Zona 3: Crítico (Temp &gt; 28°C)</a:t>
            </a:r>
            <a:endParaRPr b="1"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O controle pelo potenciômetro é desativado.</a:t>
            </a:r>
            <a:endParaRPr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Ventoinha é forçada à velocidade MÁXIMA (PWM = 255).</a:t>
            </a:r>
            <a:endParaRPr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LED Vermelho LIGADO.</a:t>
            </a:r>
            <a:endParaRPr i="1" sz="2800">
              <a:solidFill>
                <a:srgbClr val="1B1C1D"/>
              </a:solidFill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3-Implementação do sistema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9"/>
          <p:cNvPicPr preferRelativeResize="0"/>
          <p:nvPr/>
        </p:nvPicPr>
        <p:blipFill rotWithShape="1">
          <a:blip r:embed="rId3">
            <a:alphaModFix/>
          </a:blip>
          <a:srcRect b="0" l="0" r="0" t="29428"/>
          <a:stretch/>
        </p:blipFill>
        <p:spPr>
          <a:xfrm>
            <a:off x="8371831" y="2787875"/>
            <a:ext cx="4339994" cy="40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Elipse E3 - Configuração do Driver e Tags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Passo 1: Configurar o Driver MODBUS</a:t>
            </a:r>
            <a:endParaRPr b="1"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Definir a Porta COM correta para a conexão USB-Serial.</a:t>
            </a:r>
            <a:endParaRPr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Corresponder os parâmetros de comunicação com os do Arduino: 9600 baud, 8 bits de dados, sem paridade, 1 stop bit (8N1).</a:t>
            </a:r>
            <a:endParaRPr i="1"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Passo 2: Criar Tags de Comunicação</a:t>
            </a:r>
            <a:endParaRPr b="1"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Cada variável que queremos monitorar ou controlar precisa de uma "tag" no Elipse.</a:t>
            </a:r>
            <a:endParaRPr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i="1" lang="en-US" sz="2800">
                <a:solidFill>
                  <a:srgbClr val="1B1C1D"/>
                </a:solidFill>
              </a:rPr>
              <a:t>Cada tag é vinculada diretamente a um endereço no escravo Arduino.</a:t>
            </a:r>
            <a:endParaRPr i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Exemplo de Mapeamento:</a:t>
            </a:r>
            <a:endParaRPr b="1" i="1"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Tag:</a:t>
            </a:r>
            <a:r>
              <a:rPr i="1" lang="en-US" sz="2800">
                <a:solidFill>
                  <a:srgbClr val="1B1C1D"/>
                </a:solidFill>
              </a:rPr>
              <a:t> Sensor_Temp -&gt; </a:t>
            </a:r>
            <a:r>
              <a:rPr b="1" i="1" lang="en-US" sz="2800">
                <a:solidFill>
                  <a:srgbClr val="1B1C1D"/>
                </a:solidFill>
              </a:rPr>
              <a:t>Endereço:</a:t>
            </a:r>
            <a:r>
              <a:rPr i="1" lang="en-US" sz="2800">
                <a:solidFill>
                  <a:srgbClr val="1B1C1D"/>
                </a:solidFill>
              </a:rPr>
              <a:t> 1.30004 (Escravo 1, Registrador de Entrada 30004).</a:t>
            </a:r>
            <a:endParaRPr i="1"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i="1" lang="en-US" sz="2800">
                <a:solidFill>
                  <a:srgbClr val="1B1C1D"/>
                </a:solidFill>
              </a:rPr>
              <a:t>Tag:</a:t>
            </a:r>
            <a:r>
              <a:rPr i="1" lang="en-US" sz="2800">
                <a:solidFill>
                  <a:srgbClr val="1B1C1D"/>
                </a:solidFill>
              </a:rPr>
              <a:t> Ventoinha_PWM -&gt; </a:t>
            </a:r>
            <a:r>
              <a:rPr b="1" i="1" lang="en-US" sz="2800">
                <a:solidFill>
                  <a:srgbClr val="1B1C1D"/>
                </a:solidFill>
              </a:rPr>
              <a:t>Endereço:</a:t>
            </a:r>
            <a:r>
              <a:rPr i="1" lang="en-US" sz="2800">
                <a:solidFill>
                  <a:srgbClr val="1B1C1D"/>
                </a:solidFill>
              </a:rPr>
              <a:t> 1.40015 (Escravo 1, Registrador de Retenção 40015).</a:t>
            </a:r>
            <a:endParaRPr i="1" sz="2800">
              <a:solidFill>
                <a:srgbClr val="1B1C1D"/>
              </a:solidFill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3-Implementação do sistema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Elipse E3 - A Interface Supervisória (IHM)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Uma interface de usuário customizada foi construída para visualizar e interagir com o sistema. 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Componentes Principais: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Entrada Digital: Indicador de status para o botão.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Entrada Analógica:</a:t>
            </a:r>
            <a:endParaRPr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Medidor (gauge) para o valor do potenciômetro.</a:t>
            </a:r>
            <a:endParaRPr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Display numérico e barra de gráfico para a temperatura.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Saída Discreta:</a:t>
            </a:r>
            <a:endParaRPr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Ícone de ventoinha animado mostrando o % de uso.</a:t>
            </a:r>
            <a:endParaRPr sz="2800">
              <a:solidFill>
                <a:srgbClr val="1B1C1D"/>
              </a:solidFill>
            </a:endParaRPr>
          </a:p>
          <a:p>
            <a:pPr indent="-406400" lvl="6" marL="3200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Indicadores de status para os três LEDs.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Saída PWM: Slider para controlar a intensidade de um LED separado.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3-Implementação do sistema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Elipse E3 - A Interface Supervisória (IHM)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2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3-Implementação do sistema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225" y="2060125"/>
            <a:ext cx="9006325" cy="7148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Caso de Teste 1: Operação Normal (&lt; 24°C)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3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940000" y="1854125"/>
            <a:ext cx="705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Condição:</a:t>
            </a:r>
            <a:r>
              <a:rPr lang="en-US" sz="2800">
                <a:solidFill>
                  <a:srgbClr val="1B1C1D"/>
                </a:solidFill>
              </a:rPr>
              <a:t> Sistema em um estado estável e frio (temperatura de 25,1 °C registrada no teste).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Sistema Físico:</a:t>
            </a:r>
            <a:endParaRPr b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LED Verde LIGADO.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Ventoinha DESLIGADA.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Tela Supervisória:</a:t>
            </a:r>
            <a:endParaRPr b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A leitura de temperatura é precisa.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O uso da ventoinha mostra corretamente 0%.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O status do LED verde está aceso.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Resultado:</a:t>
            </a:r>
            <a:r>
              <a:rPr lang="en-US" sz="2800">
                <a:solidFill>
                  <a:srgbClr val="1B1C1D"/>
                </a:solidFill>
              </a:rPr>
              <a:t> A IHM reflete corretamente o estado físico do sistema.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-Demonstração e Resultados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3">
            <a:alphaModFix/>
          </a:blip>
          <a:srcRect b="0" l="0" r="0" t="24110"/>
          <a:stretch/>
        </p:blipFill>
        <p:spPr>
          <a:xfrm>
            <a:off x="8896475" y="1875975"/>
            <a:ext cx="3148925" cy="318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6238" y="5352236"/>
            <a:ext cx="4309395" cy="38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Caso de Teste 2: Estado Alerta (24°C-28°C)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4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940000" y="1854125"/>
            <a:ext cx="705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Condição:</a:t>
            </a:r>
            <a:r>
              <a:rPr lang="en-US" sz="2800">
                <a:solidFill>
                  <a:srgbClr val="1B1C1D"/>
                </a:solidFill>
              </a:rPr>
              <a:t> A temperatura foi elevada para 27,8°C, entrando na zona de alerta.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Sistema Físico:</a:t>
            </a:r>
            <a:endParaRPr b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LED Amarelo LIGA.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Ventoinha começa a girar a uma velocidade determinada pelo potenciômetro.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Tela Supervisória:</a:t>
            </a:r>
            <a:endParaRPr b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Temperatura indica 27,8°C.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Uso da ventoinha mostra 30,2%, correspondendo à configuração do potenciômetro.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Status do LED amarelo está aceso.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Resultado:</a:t>
            </a:r>
            <a:r>
              <a:rPr lang="en-US" sz="2800">
                <a:solidFill>
                  <a:srgbClr val="1B1C1D"/>
                </a:solidFill>
              </a:rPr>
              <a:t> O sistema identificou corretamente a mudança de estado e o controle proporcional foi validado.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t/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4-Demonstração e Resultados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8" name="Google Shape;248;p34"/>
          <p:cNvPicPr preferRelativeResize="0"/>
          <p:nvPr/>
        </p:nvPicPr>
        <p:blipFill rotWithShape="1">
          <a:blip r:embed="rId3">
            <a:alphaModFix/>
          </a:blip>
          <a:srcRect b="0" l="0" r="0" t="26454"/>
          <a:stretch/>
        </p:blipFill>
        <p:spPr>
          <a:xfrm>
            <a:off x="9113975" y="1811088"/>
            <a:ext cx="2977450" cy="307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0350" y="5114100"/>
            <a:ext cx="4369350" cy="401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Caso de Teste 3: Estado Crítico (&gt; 28°C)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940000" y="1854125"/>
            <a:ext cx="705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Condição:</a:t>
            </a:r>
            <a:r>
              <a:rPr lang="en-US" sz="2800">
                <a:solidFill>
                  <a:srgbClr val="1B1C1D"/>
                </a:solidFill>
              </a:rPr>
              <a:t> A temperatura foi elevada acima de 28°C, ativando o estado crítico.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Sistema Físico:</a:t>
            </a:r>
            <a:endParaRPr b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LED Vermelho LIGA.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Ventoinha gira na velocidade máxima, independentemente da posição do potenciômetro.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Tela Supervisória:</a:t>
            </a:r>
            <a:endParaRPr b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Temperatura indica 29,3°C.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Uso da ventoinha exibe corretamente 100%.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Status do LED vermelho está aceso.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Resultado:</a:t>
            </a:r>
            <a:r>
              <a:rPr lang="en-US" sz="2800">
                <a:solidFill>
                  <a:srgbClr val="1B1C1D"/>
                </a:solidFill>
              </a:rPr>
              <a:t> O sistema entrou corretamente no estado crítico, desativou o controle manual e a IHM refletiu isso com precisão.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4-Demonstração e Resultados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35"/>
          <p:cNvPicPr preferRelativeResize="0"/>
          <p:nvPr/>
        </p:nvPicPr>
        <p:blipFill rotWithShape="1">
          <a:blip r:embed="rId3">
            <a:alphaModFix/>
          </a:blip>
          <a:srcRect b="0" l="0" r="0" t="29428"/>
          <a:stretch/>
        </p:blipFill>
        <p:spPr>
          <a:xfrm>
            <a:off x="9216300" y="1832625"/>
            <a:ext cx="2977450" cy="303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0350" y="5114105"/>
            <a:ext cx="4369350" cy="40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Conclusão e Principais Aprendizados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36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Sucesso:</a:t>
            </a:r>
            <a:r>
              <a:rPr lang="en-US" sz="2800">
                <a:solidFill>
                  <a:srgbClr val="1B1C1D"/>
                </a:solidFill>
              </a:rPr>
              <a:t> Implementamos com sucesso um sistema de controle supervisório funcional usando Arduino e Elipse E3 com o protocolo MODBUS RTU.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Validação:</a:t>
            </a:r>
            <a:r>
              <a:rPr lang="en-US" sz="2800">
                <a:solidFill>
                  <a:srgbClr val="1B1C1D"/>
                </a:solidFill>
              </a:rPr>
              <a:t> O sistema demonstrou uma comunicação bidirecional eficaz tanto para monitoramento quanto para controle.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Desafios Superados:</a:t>
            </a:r>
            <a:endParaRPr b="1"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Dificuldades iniciais com a configuração do driver MODBUS e o mapeamento de registradores.</a:t>
            </a:r>
            <a:endParaRPr sz="2800">
              <a:solidFill>
                <a:srgbClr val="1B1C1D"/>
              </a:solidFill>
            </a:endParaRPr>
          </a:p>
          <a:p>
            <a:pPr indent="-406400" lvl="3" marL="18288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lang="en-US" sz="2800">
                <a:solidFill>
                  <a:srgbClr val="1B1C1D"/>
                </a:solidFill>
              </a:rPr>
              <a:t>Ajuste fino dos parâmetros de comunicação para garantir a sincronização.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Conhecimento Adquirido:</a:t>
            </a:r>
            <a:r>
              <a:rPr lang="en-US" sz="2800">
                <a:solidFill>
                  <a:srgbClr val="1B1C1D"/>
                </a:solidFill>
              </a:rPr>
              <a:t> Este projeto proporcionou uma experiência prática significativa em protocolos industriais, programação de microcontroladores e sistemas SCADA, reforçando conceitos das disciplinas de Redes Industriais e Microcontroladores.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-Conclusão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Trabalhos Futuros e Melhorias</a:t>
            </a:r>
            <a:endParaRPr b="1"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7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65000" spcFirstLastPara="1" rIns="65000" wrap="square" tIns="65000">
            <a:noAutofit/>
          </a:bodyPr>
          <a:lstStyle/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Registro Histórico de Dados:</a:t>
            </a:r>
            <a:r>
              <a:rPr lang="en-US" sz="2800">
                <a:solidFill>
                  <a:srgbClr val="1B1C1D"/>
                </a:solidFill>
              </a:rPr>
              <a:t> Implementar a integração com um banco de dados para armazenar medições e comandos históricos para análise de tendências e relatórios. 89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Alarmes:</a:t>
            </a:r>
            <a:r>
              <a:rPr lang="en-US" sz="2800">
                <a:solidFill>
                  <a:srgbClr val="1B1C1D"/>
                </a:solidFill>
              </a:rPr>
              <a:t> Configurar alarmes formais no Elipse E3 para os estados de temperatura de alerta e crítico (ex: notificações por e-mail, alertas na tela).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Expansão da Rede:</a:t>
            </a:r>
            <a:r>
              <a:rPr lang="en-US" sz="2800">
                <a:solidFill>
                  <a:srgbClr val="1B1C1D"/>
                </a:solidFill>
              </a:rPr>
              <a:t> Expandir a rede para incluir múltiplos escravos Arduino, cada um com um ID de escravo único, para simular um processo maior.</a:t>
            </a:r>
            <a:endParaRPr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Interface Web:</a:t>
            </a:r>
            <a:r>
              <a:rPr lang="en-US" sz="2800">
                <a:solidFill>
                  <a:srgbClr val="1B1C1D"/>
                </a:solidFill>
              </a:rPr>
              <a:t> Desenvolver um cliente baseado na web para monitoramento e controle remotos.</a:t>
            </a:r>
            <a:endParaRPr sz="2800">
              <a:solidFill>
                <a:srgbClr val="1B1C1D"/>
              </a:solidFill>
            </a:endParaRPr>
          </a:p>
        </p:txBody>
      </p:sp>
      <p:sp>
        <p:nvSpPr>
          <p:cNvPr id="278" name="Google Shape;278;p37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5-Conclusão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/>
          <p:nvPr/>
        </p:nvSpPr>
        <p:spPr>
          <a:xfrm>
            <a:off x="10551089" y="800613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544250" y="773163"/>
            <a:ext cx="1092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Obrigado e Perguntas</a:t>
            </a:r>
            <a:endParaRPr b="1"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38"/>
          <p:cNvSpPr txBox="1"/>
          <p:nvPr>
            <p:ph idx="12" type="sldNum"/>
          </p:nvPr>
        </p:nvSpPr>
        <p:spPr>
          <a:xfrm>
            <a:off x="12425902" y="9208456"/>
            <a:ext cx="463800" cy="439200"/>
          </a:xfrm>
          <a:prstGeom prst="rect">
            <a:avLst/>
          </a:prstGeom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8"/>
          <p:cNvSpPr txBox="1"/>
          <p:nvPr/>
        </p:nvSpPr>
        <p:spPr>
          <a:xfrm>
            <a:off x="940000" y="1854125"/>
            <a:ext cx="10922100" cy="7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65000" spcFirstLastPara="1" rIns="65000" wrap="square" tIns="65000">
            <a:noAutofit/>
          </a:bodyPr>
          <a:lstStyle/>
          <a:p>
            <a:pPr indent="0" lvl="0" marL="41148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B1C1D"/>
                </a:solidFill>
              </a:rPr>
              <a:t>   Obrigado!</a:t>
            </a:r>
            <a:endParaRPr b="1" sz="3200">
              <a:solidFill>
                <a:srgbClr val="1B1C1D"/>
              </a:solidFill>
            </a:endParaRPr>
          </a:p>
          <a:p>
            <a:pPr indent="0" lvl="0" marL="4572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Perguntas?</a:t>
            </a:r>
            <a:endParaRPr b="1" sz="2800">
              <a:solidFill>
                <a:srgbClr val="1B1C1D"/>
              </a:solidFill>
            </a:endParaRPr>
          </a:p>
          <a:p>
            <a:pPr indent="0" lvl="0" marL="4572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1B1C1D"/>
              </a:solidFill>
            </a:endParaRPr>
          </a:p>
          <a:p>
            <a:pPr indent="-406400" lvl="0" marL="457200" rtl="0" algn="just">
              <a:spcBef>
                <a:spcPts val="700"/>
              </a:spcBef>
              <a:spcAft>
                <a:spcPts val="0"/>
              </a:spcAft>
              <a:buClr>
                <a:srgbClr val="1B1C1D"/>
              </a:buClr>
              <a:buSzPts val="2800"/>
              <a:buChar char="●"/>
            </a:pPr>
            <a:r>
              <a:rPr b="1" lang="en-US" sz="2800">
                <a:solidFill>
                  <a:srgbClr val="1B1C1D"/>
                </a:solidFill>
              </a:rPr>
              <a:t>Autores: </a:t>
            </a:r>
            <a:r>
              <a:rPr b="1" lang="en-US" sz="2800">
                <a:solidFill>
                  <a:srgbClr val="1B1C1D"/>
                </a:solidFill>
              </a:rPr>
              <a:t>JOÃO EMILIANO HELRIGHEL FREITAS (joao.hf@aluno.ifsc.edu.br) ; GUILHERME TOME (guilherme.e06@aluno.ifsc.edu.br)</a:t>
            </a:r>
            <a:endParaRPr b="1" sz="2800">
              <a:solidFill>
                <a:srgbClr val="1B1C1D"/>
              </a:solidFill>
            </a:endParaRPr>
          </a:p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1B1C1D"/>
              </a:solidFill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6528425" y="0"/>
            <a:ext cx="5780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5-Conclusão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/>
          <p:nvPr/>
        </p:nvSpPr>
        <p:spPr>
          <a:xfrm>
            <a:off x="10551089" y="7880984"/>
            <a:ext cx="103200" cy="1029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65000" lIns="65000" spcFirstLastPara="1" rIns="65000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39"/>
          <p:cNvSpPr txBox="1"/>
          <p:nvPr>
            <p:ph idx="12" type="sldNum"/>
          </p:nvPr>
        </p:nvSpPr>
        <p:spPr>
          <a:xfrm>
            <a:off x="12418633" y="9182551"/>
            <a:ext cx="4638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65000" spcFirstLastPara="1" rIns="65000" wrap="square" tIns="650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39745"/>
              </a:buClr>
              <a:buSzPts val="2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9"/>
          <p:cNvSpPr txBox="1"/>
          <p:nvPr/>
        </p:nvSpPr>
        <p:spPr>
          <a:xfrm>
            <a:off x="8699" y="342700"/>
            <a:ext cx="130047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</a:pPr>
            <a:r>
              <a:rPr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Referências</a:t>
            </a:r>
            <a:endParaRPr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39"/>
          <p:cNvSpPr txBox="1"/>
          <p:nvPr/>
        </p:nvSpPr>
        <p:spPr>
          <a:xfrm>
            <a:off x="50" y="2262325"/>
            <a:ext cx="13004700" cy="6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65000" spcFirstLastPara="1" rIns="65000" wrap="square" tIns="650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[1]	Adafruit, “DHT-sensor-library,” GitHub repositório, 5 jul. 2013. [Online]. Disponível em:https://github.com/adafruit/DHT-sensor-library. Acessado em: 30 set. 2025.</a:t>
            </a:r>
            <a:endParaRPr sz="2700">
              <a:solidFill>
                <a:schemeClr val="dk1"/>
              </a:solidFill>
            </a:endParaRPr>
          </a:p>
          <a:p>
            <a:pPr indent="-243840" lvl="0" marL="24384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[2] 	Vishay, “IRLZ44 — Power MOSFET,” Datasheet S21-1045 Rev. D, 25 out. 2021. [Online]. Disponível em: https://www.vishay.com/docs/91328/irlz44.pdf. Acessado em: 5 out. 2025.</a:t>
            </a:r>
            <a:endParaRPr sz="2700">
              <a:solidFill>
                <a:schemeClr val="dk1"/>
              </a:solidFill>
            </a:endParaRPr>
          </a:p>
          <a:p>
            <a:pPr indent="-243840" lvl="0" marL="24384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[3] Tekon Electronics, “Protocolo de comunicação Modbus,” Tekon Blog, (data de publicação não disponível). [Online]. Disponível em: https://www.tekonelectronics.com/pt/media/tekon-blog/protocolo-comunicacao-modbus/#. Acessado em: 5 out. 2025.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‌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0D9"/>
      </a:accent5>
      <a:accent6>
        <a:srgbClr val="AE48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